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3"/>
  </p:notesMasterIdLst>
  <p:sldIdLst>
    <p:sldId id="257" r:id="rId5"/>
    <p:sldId id="259" r:id="rId6"/>
    <p:sldId id="286" r:id="rId7"/>
    <p:sldId id="284" r:id="rId8"/>
    <p:sldId id="283" r:id="rId9"/>
    <p:sldId id="285" r:id="rId10"/>
    <p:sldId id="282" r:id="rId11"/>
    <p:sldId id="281" r:id="rId12"/>
  </p:sldIdLst>
  <p:sldSz cx="12192000" cy="6858000"/>
  <p:notesSz cx="6742113" cy="98758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E42FAC8-3A82-4A2D-8D08-8E0DC718DCFE}">
          <p14:sldIdLst>
            <p14:sldId id="257"/>
            <p14:sldId id="259"/>
            <p14:sldId id="286"/>
            <p14:sldId id="284"/>
            <p14:sldId id="283"/>
            <p14:sldId id="285"/>
            <p14:sldId id="282"/>
          </p14:sldIdLst>
        </p14:section>
        <p14:section name="Untitled Section" id="{B03DFEE7-A86C-4963-8EFE-B9B1D697CC38}">
          <p14:sldIdLst>
            <p14:sldId id="28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27C46D-5B6F-4613-62F6-64CE844E6E40}" name="priyankagirdhar91@outlook.com" initials="p" userId="5174400809e35bf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90" d="100"/>
        <a:sy n="9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582" cy="495507"/>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18971" y="0"/>
            <a:ext cx="2921582" cy="495507"/>
          </a:xfrm>
          <a:prstGeom prst="rect">
            <a:avLst/>
          </a:prstGeom>
        </p:spPr>
        <p:txBody>
          <a:bodyPr vert="horz" lIns="91440" tIns="45720" rIns="91440" bIns="45720" rtlCol="0"/>
          <a:lstStyle>
            <a:lvl1pPr algn="r">
              <a:defRPr sz="1200"/>
            </a:lvl1pPr>
          </a:lstStyle>
          <a:p>
            <a:fld id="{63A1DC14-9433-4AE4-A2F0-862178648371}" type="datetimeFigureOut">
              <a:rPr lang="en-IN" smtClean="0"/>
              <a:t>24-11-2025</a:t>
            </a:fld>
            <a:endParaRPr lang="en-IN"/>
          </a:p>
        </p:txBody>
      </p:sp>
      <p:sp>
        <p:nvSpPr>
          <p:cNvPr id="4" name="Slide Image Placeholder 3"/>
          <p:cNvSpPr>
            <a:spLocks noGrp="1" noRot="1" noChangeAspect="1"/>
          </p:cNvSpPr>
          <p:nvPr>
            <p:ph type="sldImg" idx="2"/>
          </p:nvPr>
        </p:nvSpPr>
        <p:spPr>
          <a:xfrm>
            <a:off x="409575" y="1235075"/>
            <a:ext cx="5922963" cy="33321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4212" y="4752747"/>
            <a:ext cx="5393690" cy="388861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380333"/>
            <a:ext cx="2921582" cy="495506"/>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18971" y="9380333"/>
            <a:ext cx="2921582" cy="495506"/>
          </a:xfrm>
          <a:prstGeom prst="rect">
            <a:avLst/>
          </a:prstGeom>
        </p:spPr>
        <p:txBody>
          <a:bodyPr vert="horz" lIns="91440" tIns="45720" rIns="91440" bIns="45720" rtlCol="0" anchor="b"/>
          <a:lstStyle>
            <a:lvl1pPr algn="r">
              <a:defRPr sz="1200"/>
            </a:lvl1pPr>
          </a:lstStyle>
          <a:p>
            <a:fld id="{8E884AE3-FC4A-4B44-BE28-F166D978C5EB}" type="slidenum">
              <a:rPr lang="en-IN" smtClean="0"/>
              <a:t>‹#›</a:t>
            </a:fld>
            <a:endParaRPr lang="en-IN"/>
          </a:p>
        </p:txBody>
      </p:sp>
    </p:spTree>
    <p:extLst>
      <p:ext uri="{BB962C8B-B14F-4D97-AF65-F5344CB8AC3E}">
        <p14:creationId xmlns:p14="http://schemas.microsoft.com/office/powerpoint/2010/main" val="3706315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24/11/2025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24/11/2025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24/11/2025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24/11/2025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24/11/2025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24/11/2025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24/11/2025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24/11/2025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24/11/2025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24/11/2025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24/11/2025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24/11/2025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31317"/>
            <a:ext cx="10993549" cy="1475013"/>
          </a:xfrm>
        </p:spPr>
        <p:txBody>
          <a:bodyPr>
            <a:normAutofit/>
          </a:bodyPr>
          <a:lstStyle/>
          <a:p>
            <a:r>
              <a:rPr lang="en-US" sz="4400" dirty="0">
                <a:solidFill>
                  <a:schemeClr val="tx2">
                    <a:lumMod val="60000"/>
                    <a:lumOff val="40000"/>
                  </a:schemeClr>
                </a:solidFill>
              </a:rPr>
              <a:t>Group Profile</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125411"/>
            <a:ext cx="11260667" cy="3310466"/>
          </a:xfrm>
          <a:prstGeom prst="rect">
            <a:avLst/>
          </a:prstGeom>
        </p:spPr>
      </p:pic>
      <p:pic>
        <p:nvPicPr>
          <p:cNvPr id="5" name="Picture 4">
            <a:extLst>
              <a:ext uri="{FF2B5EF4-FFF2-40B4-BE49-F238E27FC236}">
                <a16:creationId xmlns:a16="http://schemas.microsoft.com/office/drawing/2014/main" id="{ECD1DA66-C836-7EE1-5872-17DD5540D565}"/>
              </a:ext>
            </a:extLst>
          </p:cNvPr>
          <p:cNvPicPr>
            <a:picLocks noChangeAspect="1"/>
          </p:cNvPicPr>
          <p:nvPr/>
        </p:nvPicPr>
        <p:blipFill>
          <a:blip r:embed="rId3"/>
          <a:stretch>
            <a:fillRect/>
          </a:stretch>
        </p:blipFill>
        <p:spPr>
          <a:xfrm>
            <a:off x="10179334" y="673845"/>
            <a:ext cx="1431475" cy="1175004"/>
          </a:xfrm>
          <a:prstGeom prst="rect">
            <a:avLst/>
          </a:prstGeom>
        </p:spPr>
      </p:pic>
      <p:sp>
        <p:nvSpPr>
          <p:cNvPr id="7" name="Subtitle 6">
            <a:extLst>
              <a:ext uri="{FF2B5EF4-FFF2-40B4-BE49-F238E27FC236}">
                <a16:creationId xmlns:a16="http://schemas.microsoft.com/office/drawing/2014/main" id="{BF2639FE-2681-54A7-8630-50D344F6CEBD}"/>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54ABE40-AA00-F366-A36A-B3F1AADBF025}"/>
              </a:ext>
            </a:extLst>
          </p:cNvPr>
          <p:cNvSpPr txBox="1">
            <a:spLocks/>
          </p:cNvSpPr>
          <p:nvPr/>
        </p:nvSpPr>
        <p:spPr>
          <a:xfrm>
            <a:off x="581191" y="975982"/>
            <a:ext cx="10515600" cy="615934"/>
          </a:xfrm>
          <a:prstGeom prst="rect">
            <a:avLst/>
          </a:prstGeom>
          <a:noFill/>
        </p:spPr>
        <p:txBody>
          <a:bodyPr vert="horz" lIns="91440" tIns="45720" rIns="91440" bIns="45720" rtlCol="0" anchor="ctr" anchorCtr="0">
            <a:no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About us</a:t>
            </a:r>
          </a:p>
        </p:txBody>
      </p:sp>
      <p:sp>
        <p:nvSpPr>
          <p:cNvPr id="5" name="Subtitle 2">
            <a:extLst>
              <a:ext uri="{FF2B5EF4-FFF2-40B4-BE49-F238E27FC236}">
                <a16:creationId xmlns:a16="http://schemas.microsoft.com/office/drawing/2014/main" id="{72446868-83F0-CEEF-5E60-6D55C93B523F}"/>
              </a:ext>
            </a:extLst>
          </p:cNvPr>
          <p:cNvSpPr txBox="1">
            <a:spLocks/>
          </p:cNvSpPr>
          <p:nvPr/>
        </p:nvSpPr>
        <p:spPr>
          <a:xfrm>
            <a:off x="508037" y="1746781"/>
            <a:ext cx="11333443" cy="5111219"/>
          </a:xfrm>
          <a:prstGeom prst="rect">
            <a:avLst/>
          </a:prstGeom>
          <a:noFill/>
        </p:spPr>
        <p:txBody>
          <a:bodyPr vert="horz" lIns="91440" tIns="45720" rIns="91440" bIns="45720" rtlCol="0" anchor="ctr">
            <a:normAutofit lnSpcReduction="1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n-US" sz="1800" b="1" dirty="0">
                <a:solidFill>
                  <a:srgbClr val="000000"/>
                </a:solidFill>
                <a:latin typeface="Aptos" panose="020B0004020202020204" pitchFamily="34" charset="0"/>
              </a:rPr>
              <a:t>Group Profile:  </a:t>
            </a:r>
          </a:p>
          <a:p>
            <a:pPr marL="0" indent="0" algn="just">
              <a:buNone/>
            </a:pPr>
            <a:r>
              <a:rPr lang="en-US" sz="1600" dirty="0">
                <a:solidFill>
                  <a:srgbClr val="000000"/>
                </a:solidFill>
                <a:latin typeface="Aptos" panose="020B0004020202020204" pitchFamily="34" charset="0"/>
              </a:rPr>
              <a:t>Established 14 years ago, Group started as a Proprietorship firm to provide consultancy and services to corporates.             Backed by a strong track record of serving 50+ corporate clients across diverse sectors, it now delivers strategic services and financial solutions that balance growth, compliance, and sustainability. </a:t>
            </a:r>
          </a:p>
          <a:p>
            <a:pPr marL="0" indent="0" algn="just">
              <a:buNone/>
            </a:pPr>
            <a:r>
              <a:rPr lang="en-US" sz="1600" dirty="0">
                <a:solidFill>
                  <a:srgbClr val="000000"/>
                </a:solidFill>
                <a:latin typeface="Aptos" panose="020B0004020202020204" pitchFamily="34" charset="0"/>
              </a:rPr>
              <a:t>With its expertise in structuring capital, optimizing fund utilization, and guiding organizations through transparent and efficient financial management practices, today Shanky Group has diversified into multiple verticals with own</a:t>
            </a:r>
            <a:r>
              <a:rPr lang="en-IN" sz="1600" dirty="0">
                <a:solidFill>
                  <a:srgbClr val="000000"/>
                </a:solidFill>
                <a:latin typeface="Aptos" panose="020B0004020202020204" pitchFamily="34" charset="0"/>
              </a:rPr>
              <a:t> trading operations and direct funding solutions, enabling us to provide comprehensive financial support under one roof.</a:t>
            </a:r>
          </a:p>
          <a:p>
            <a:r>
              <a:rPr lang="en-US" sz="1800" b="1" dirty="0">
                <a:solidFill>
                  <a:srgbClr val="000000"/>
                </a:solidFill>
                <a:latin typeface="Aptos" panose="020B0004020202020204" pitchFamily="34" charset="0"/>
              </a:rPr>
              <a:t>Sample Client List</a:t>
            </a:r>
            <a:endParaRPr lang="en-IN" dirty="0">
              <a:latin typeface="Aptos" panose="020B0004020202020204" pitchFamily="34" charset="0"/>
            </a:endParaRPr>
          </a:p>
          <a:p>
            <a:pPr marL="915750" lvl="1" indent="-285750">
              <a:buFont typeface="Arial" panose="020B0604020202020204" pitchFamily="34" charset="0"/>
              <a:buChar char="•"/>
            </a:pPr>
            <a:r>
              <a:rPr lang="en-IN" b="1" dirty="0">
                <a:latin typeface="Aptos" panose="020B0004020202020204" pitchFamily="34" charset="0"/>
              </a:rPr>
              <a:t>ENERGY	  : </a:t>
            </a:r>
            <a:r>
              <a:rPr lang="en-IN" dirty="0">
                <a:latin typeface="Aptos" panose="020B0004020202020204" pitchFamily="34" charset="0"/>
              </a:rPr>
              <a:t>Apollo Green Energy Limited, </a:t>
            </a:r>
            <a:r>
              <a:rPr lang="en-IN" dirty="0" err="1">
                <a:latin typeface="Aptos" panose="020B0004020202020204" pitchFamily="34" charset="0"/>
              </a:rPr>
              <a:t>Maxvolt</a:t>
            </a:r>
            <a:r>
              <a:rPr lang="en-IN" dirty="0">
                <a:latin typeface="Aptos" panose="020B0004020202020204" pitchFamily="34" charset="0"/>
              </a:rPr>
              <a:t> Energy Industries Limited, Kinetic Green Energy &amp; Power Solution Limited, </a:t>
            </a:r>
            <a:r>
              <a:rPr lang="en-IN" b="1" dirty="0">
                <a:latin typeface="Aptos" panose="020B0004020202020204" pitchFamily="34" charset="0"/>
              </a:rPr>
              <a:t> </a:t>
            </a:r>
            <a:r>
              <a:rPr lang="en-IN" dirty="0">
                <a:latin typeface="Aptos" panose="020B0004020202020204" pitchFamily="34" charset="0"/>
              </a:rPr>
              <a:t>Paawan Energy India Pvt Ltd</a:t>
            </a:r>
          </a:p>
          <a:p>
            <a:pPr marL="915750" lvl="1" indent="-285750">
              <a:buFont typeface="Arial" panose="020B0604020202020204" pitchFamily="34" charset="0"/>
              <a:buChar char="•"/>
            </a:pPr>
            <a:r>
              <a:rPr lang="en-IN" b="1" dirty="0">
                <a:latin typeface="Aptos" panose="020B0004020202020204" pitchFamily="34" charset="0"/>
              </a:rPr>
              <a:t>METAL 	  : </a:t>
            </a:r>
            <a:r>
              <a:rPr lang="en-IN" b="0" i="0" dirty="0">
                <a:solidFill>
                  <a:srgbClr val="1F1F1F"/>
                </a:solidFill>
                <a:effectLst/>
                <a:latin typeface="Aptos" panose="020B0004020202020204" pitchFamily="34" charset="0"/>
              </a:rPr>
              <a:t>Coventry Coil-o-Matic (Haryana) Limited</a:t>
            </a:r>
            <a:r>
              <a:rPr lang="en-IN" dirty="0">
                <a:latin typeface="Aptos" panose="020B0004020202020204" pitchFamily="34" charset="0"/>
              </a:rPr>
              <a:t>, </a:t>
            </a:r>
            <a:r>
              <a:rPr lang="en-IN" dirty="0" err="1">
                <a:latin typeface="Aptos" panose="020B0004020202020204" pitchFamily="34" charset="0"/>
              </a:rPr>
              <a:t>Shubhampress</a:t>
            </a:r>
            <a:r>
              <a:rPr lang="en-IN" dirty="0">
                <a:latin typeface="Aptos" panose="020B0004020202020204" pitchFamily="34" charset="0"/>
              </a:rPr>
              <a:t> Automation Pvt Ltd</a:t>
            </a:r>
          </a:p>
          <a:p>
            <a:pPr marL="915750" lvl="1" indent="-285750">
              <a:buFont typeface="Arial" panose="020B0604020202020204" pitchFamily="34" charset="0"/>
              <a:buChar char="•"/>
            </a:pPr>
            <a:r>
              <a:rPr lang="en-IN" b="1" dirty="0">
                <a:latin typeface="Aptos" panose="020B0004020202020204" pitchFamily="34" charset="0"/>
              </a:rPr>
              <a:t>INFRA	   :</a:t>
            </a:r>
            <a:r>
              <a:rPr lang="en-IN" dirty="0">
                <a:latin typeface="Aptos" panose="020B0004020202020204" pitchFamily="34" charset="0"/>
              </a:rPr>
              <a:t>Shailender Bahadur Singh Infra Pvt Ltd, Uchai Infra Pvt Ltd., </a:t>
            </a:r>
            <a:r>
              <a:rPr lang="en-IN" dirty="0" err="1">
                <a:latin typeface="Aptos" panose="020B0004020202020204" pitchFamily="34" charset="0"/>
              </a:rPr>
              <a:t>Sannverse</a:t>
            </a:r>
            <a:r>
              <a:rPr lang="en-IN" dirty="0">
                <a:latin typeface="Aptos" panose="020B0004020202020204" pitchFamily="34" charset="0"/>
              </a:rPr>
              <a:t> </a:t>
            </a:r>
            <a:r>
              <a:rPr lang="en-IN" dirty="0" err="1">
                <a:latin typeface="Aptos" panose="020B0004020202020204" pitchFamily="34" charset="0"/>
              </a:rPr>
              <a:t>Railtech</a:t>
            </a:r>
            <a:r>
              <a:rPr lang="en-IN" dirty="0">
                <a:latin typeface="Aptos" panose="020B0004020202020204" pitchFamily="34" charset="0"/>
              </a:rPr>
              <a:t> Pvt Ltd, SBS INFRA PVT LTD</a:t>
            </a:r>
          </a:p>
          <a:p>
            <a:pPr marL="915750" lvl="1" indent="-285750">
              <a:buFont typeface="Arial" panose="020B0604020202020204" pitchFamily="34" charset="0"/>
              <a:buChar char="•"/>
            </a:pPr>
            <a:r>
              <a:rPr lang="en-IN" b="1" dirty="0">
                <a:latin typeface="Aptos" panose="020B0004020202020204" pitchFamily="34" charset="0"/>
              </a:rPr>
              <a:t>AGRI (FMCG) :</a:t>
            </a:r>
            <a:r>
              <a:rPr lang="en-IN" dirty="0">
                <a:latin typeface="Aptos" panose="020B0004020202020204" pitchFamily="34" charset="0"/>
              </a:rPr>
              <a:t>Shreyas </a:t>
            </a:r>
            <a:r>
              <a:rPr lang="en-IN" dirty="0" err="1">
                <a:latin typeface="Aptos" panose="020B0004020202020204" pitchFamily="34" charset="0"/>
              </a:rPr>
              <a:t>Sortex</a:t>
            </a:r>
            <a:r>
              <a:rPr lang="en-IN" dirty="0">
                <a:latin typeface="Aptos" panose="020B0004020202020204" pitchFamily="34" charset="0"/>
              </a:rPr>
              <a:t> Industries, </a:t>
            </a:r>
            <a:r>
              <a:rPr lang="en-IN" dirty="0" err="1">
                <a:latin typeface="Aptos" panose="020B0004020202020204" pitchFamily="34" charset="0"/>
              </a:rPr>
              <a:t>Rajgor</a:t>
            </a:r>
            <a:r>
              <a:rPr lang="en-IN" dirty="0">
                <a:latin typeface="Aptos" panose="020B0004020202020204" pitchFamily="34" charset="0"/>
              </a:rPr>
              <a:t> Proteins Limited, </a:t>
            </a:r>
            <a:r>
              <a:rPr lang="en-IN" dirty="0" err="1">
                <a:latin typeface="Aptos" panose="020B0004020202020204" pitchFamily="34" charset="0"/>
              </a:rPr>
              <a:t>Rajgor</a:t>
            </a:r>
            <a:r>
              <a:rPr lang="en-IN" dirty="0">
                <a:latin typeface="Aptos" panose="020B0004020202020204" pitchFamily="34" charset="0"/>
              </a:rPr>
              <a:t> Castor Derivatives Limited, Handful of Health Pvt </a:t>
            </a:r>
            <a:r>
              <a:rPr lang="en-IN" dirty="0" err="1">
                <a:latin typeface="Aptos" panose="020B0004020202020204" pitchFamily="34" charset="0"/>
              </a:rPr>
              <a:t>Ltd,AAROKA</a:t>
            </a:r>
            <a:r>
              <a:rPr lang="en-IN" dirty="0">
                <a:latin typeface="Aptos" panose="020B0004020202020204" pitchFamily="34" charset="0"/>
              </a:rPr>
              <a:t> FAISHION PVT LTD</a:t>
            </a:r>
          </a:p>
          <a:p>
            <a:pPr marL="915750" lvl="1" indent="-285750">
              <a:buFont typeface="Arial" panose="020B0604020202020204" pitchFamily="34" charset="0"/>
              <a:buChar char="•"/>
            </a:pPr>
            <a:r>
              <a:rPr lang="en-IN" b="1" dirty="0">
                <a:latin typeface="Aptos" panose="020B0004020202020204" pitchFamily="34" charset="0"/>
              </a:rPr>
              <a:t>CORPORATE TRANNING: </a:t>
            </a:r>
            <a:r>
              <a:rPr lang="en-IN" dirty="0">
                <a:latin typeface="Aptos" panose="020B0004020202020204" pitchFamily="34" charset="0"/>
              </a:rPr>
              <a:t>Metal Can,HQ Lamp Private Limited ,Rasik Products Pvt Ltd, Proficiency Learning Solution Pvt Ltd, Paawan Energy Pvt </a:t>
            </a:r>
            <a:r>
              <a:rPr lang="en-IN" dirty="0" err="1">
                <a:latin typeface="Aptos" panose="020B0004020202020204" pitchFamily="34" charset="0"/>
              </a:rPr>
              <a:t>Ltd,Delta</a:t>
            </a:r>
            <a:r>
              <a:rPr lang="en-IN" dirty="0">
                <a:latin typeface="Aptos" panose="020B0004020202020204" pitchFamily="34" charset="0"/>
              </a:rPr>
              <a:t> </a:t>
            </a:r>
            <a:r>
              <a:rPr lang="en-IN" dirty="0" err="1">
                <a:latin typeface="Aptos" panose="020B0004020202020204" pitchFamily="34" charset="0"/>
              </a:rPr>
              <a:t>Glaxy</a:t>
            </a:r>
            <a:r>
              <a:rPr lang="en-IN" dirty="0">
                <a:latin typeface="Aptos" panose="020B0004020202020204" pitchFamily="34" charset="0"/>
              </a:rPr>
              <a:t> Pvt Ltd,</a:t>
            </a:r>
          </a:p>
          <a:p>
            <a:pPr marL="915750" lvl="1" indent="-285750">
              <a:buFont typeface="Arial" panose="020B0604020202020204" pitchFamily="34" charset="0"/>
              <a:buChar char="•"/>
            </a:pPr>
            <a:r>
              <a:rPr lang="en-IN" b="1" dirty="0">
                <a:latin typeface="Aptos" panose="020B0004020202020204" pitchFamily="34" charset="0"/>
              </a:rPr>
              <a:t>ELECTRONICS :</a:t>
            </a:r>
            <a:r>
              <a:rPr lang="en-IN" dirty="0">
                <a:latin typeface="Aptos" panose="020B0004020202020204" pitchFamily="34" charset="0"/>
              </a:rPr>
              <a:t>HQ LAMP PVT LTD,SYSKA LED LTD</a:t>
            </a:r>
            <a:r>
              <a:rPr lang="en-IN" b="1" dirty="0">
                <a:latin typeface="Aptos" panose="020B0004020202020204" pitchFamily="34" charset="0"/>
              </a:rPr>
              <a:t> </a:t>
            </a:r>
          </a:p>
          <a:p>
            <a:pPr marL="915750" lvl="1" indent="-285750">
              <a:buFont typeface="Arial" panose="020B0604020202020204" pitchFamily="34" charset="0"/>
              <a:buChar char="•"/>
            </a:pPr>
            <a:endParaRPr lang="en-IN" b="1" dirty="0">
              <a:latin typeface="Aptos" panose="020B0004020202020204" pitchFamily="34" charset="0"/>
            </a:endParaRPr>
          </a:p>
          <a:p>
            <a:pPr marL="0" indent="0">
              <a:buNone/>
            </a:pPr>
            <a:endParaRPr lang="en-US" sz="1800" dirty="0">
              <a:solidFill>
                <a:srgbClr val="000000"/>
              </a:solidFill>
              <a:latin typeface="Aptos" panose="020B0004020202020204" pitchFamily="34" charset="0"/>
            </a:endParaRPr>
          </a:p>
        </p:txBody>
      </p:sp>
      <p:pic>
        <p:nvPicPr>
          <p:cNvPr id="8" name="Picture 7">
            <a:extLst>
              <a:ext uri="{FF2B5EF4-FFF2-40B4-BE49-F238E27FC236}">
                <a16:creationId xmlns:a16="http://schemas.microsoft.com/office/drawing/2014/main" id="{A6BD44E1-71C2-8469-2D31-B1133D154DC4}"/>
              </a:ext>
            </a:extLst>
          </p:cNvPr>
          <p:cNvPicPr>
            <a:picLocks noChangeAspect="1"/>
          </p:cNvPicPr>
          <p:nvPr/>
        </p:nvPicPr>
        <p:blipFill>
          <a:blip r:embed="rId2"/>
          <a:stretch>
            <a:fillRect/>
          </a:stretch>
        </p:blipFill>
        <p:spPr>
          <a:xfrm>
            <a:off x="10179335" y="673845"/>
            <a:ext cx="1307128" cy="1072936"/>
          </a:xfrm>
          <a:prstGeom prst="rect">
            <a:avLst/>
          </a:prstGeom>
        </p:spPr>
      </p:pic>
      <p:pic>
        <p:nvPicPr>
          <p:cNvPr id="2" name="Picture 1">
            <a:extLst>
              <a:ext uri="{FF2B5EF4-FFF2-40B4-BE49-F238E27FC236}">
                <a16:creationId xmlns:a16="http://schemas.microsoft.com/office/drawing/2014/main" id="{E86E9525-EB63-8202-13C9-A53E9AAF6BCE}"/>
              </a:ext>
            </a:extLst>
          </p:cNvPr>
          <p:cNvPicPr>
            <a:picLocks noChangeAspect="1"/>
          </p:cNvPicPr>
          <p:nvPr/>
        </p:nvPicPr>
        <p:blipFill>
          <a:blip r:embed="rId2"/>
          <a:stretch>
            <a:fillRect/>
          </a:stretch>
        </p:blipFill>
        <p:spPr>
          <a:xfrm>
            <a:off x="10179334" y="673845"/>
            <a:ext cx="1431475" cy="1175004"/>
          </a:xfrm>
          <a:prstGeom prst="rect">
            <a:avLst/>
          </a:prstGeom>
        </p:spPr>
      </p:pic>
    </p:spTree>
    <p:extLst>
      <p:ext uri="{BB962C8B-B14F-4D97-AF65-F5344CB8AC3E}">
        <p14:creationId xmlns:p14="http://schemas.microsoft.com/office/powerpoint/2010/main" val="1596922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9371-06F3-4C9D-9AE8-25E789AE3E69}"/>
              </a:ext>
            </a:extLst>
          </p:cNvPr>
          <p:cNvSpPr>
            <a:spLocks noGrp="1"/>
          </p:cNvSpPr>
          <p:nvPr>
            <p:ph type="title"/>
          </p:nvPr>
        </p:nvSpPr>
        <p:spPr>
          <a:xfrm>
            <a:off x="581192" y="702156"/>
            <a:ext cx="11029616" cy="596292"/>
          </a:xfrm>
        </p:spPr>
        <p:txBody>
          <a:bodyPr/>
          <a:lstStyle/>
          <a:p>
            <a:r>
              <a:rPr lang="en-IN" dirty="0"/>
              <a:t>Group COMPANIES</a:t>
            </a:r>
          </a:p>
        </p:txBody>
      </p:sp>
      <p:graphicFrame>
        <p:nvGraphicFramePr>
          <p:cNvPr id="4" name="Content Placeholder 3">
            <a:extLst>
              <a:ext uri="{FF2B5EF4-FFF2-40B4-BE49-F238E27FC236}">
                <a16:creationId xmlns:a16="http://schemas.microsoft.com/office/drawing/2014/main" id="{855698A4-24BC-DC43-711B-6AF80E259D1F}"/>
              </a:ext>
            </a:extLst>
          </p:cNvPr>
          <p:cNvGraphicFramePr>
            <a:graphicFrameLocks noGrp="1"/>
          </p:cNvGraphicFramePr>
          <p:nvPr>
            <p:ph idx="1"/>
            <p:extLst>
              <p:ext uri="{D42A27DB-BD31-4B8C-83A1-F6EECF244321}">
                <p14:modId xmlns:p14="http://schemas.microsoft.com/office/powerpoint/2010/main" val="508392671"/>
              </p:ext>
            </p:extLst>
          </p:nvPr>
        </p:nvGraphicFramePr>
        <p:xfrm>
          <a:off x="219456" y="2176272"/>
          <a:ext cx="10840067" cy="3803556"/>
        </p:xfrm>
        <a:graphic>
          <a:graphicData uri="http://schemas.openxmlformats.org/drawingml/2006/table">
            <a:tbl>
              <a:tblPr firstRow="1" firstCol="1" bandRow="1">
                <a:tableStyleId>{5C22544A-7EE6-4342-B048-85BDC9FD1C3A}</a:tableStyleId>
              </a:tblPr>
              <a:tblGrid>
                <a:gridCol w="2244708">
                  <a:extLst>
                    <a:ext uri="{9D8B030D-6E8A-4147-A177-3AD203B41FA5}">
                      <a16:colId xmlns:a16="http://schemas.microsoft.com/office/drawing/2014/main" val="4195156291"/>
                    </a:ext>
                  </a:extLst>
                </a:gridCol>
                <a:gridCol w="1527048">
                  <a:extLst>
                    <a:ext uri="{9D8B030D-6E8A-4147-A177-3AD203B41FA5}">
                      <a16:colId xmlns:a16="http://schemas.microsoft.com/office/drawing/2014/main" val="2836424491"/>
                    </a:ext>
                  </a:extLst>
                </a:gridCol>
                <a:gridCol w="1234440">
                  <a:extLst>
                    <a:ext uri="{9D8B030D-6E8A-4147-A177-3AD203B41FA5}">
                      <a16:colId xmlns:a16="http://schemas.microsoft.com/office/drawing/2014/main" val="347372825"/>
                    </a:ext>
                  </a:extLst>
                </a:gridCol>
                <a:gridCol w="1408176">
                  <a:extLst>
                    <a:ext uri="{9D8B030D-6E8A-4147-A177-3AD203B41FA5}">
                      <a16:colId xmlns:a16="http://schemas.microsoft.com/office/drawing/2014/main" val="1261760136"/>
                    </a:ext>
                  </a:extLst>
                </a:gridCol>
                <a:gridCol w="1037988">
                  <a:extLst>
                    <a:ext uri="{9D8B030D-6E8A-4147-A177-3AD203B41FA5}">
                      <a16:colId xmlns:a16="http://schemas.microsoft.com/office/drawing/2014/main" val="1274388601"/>
                    </a:ext>
                  </a:extLst>
                </a:gridCol>
                <a:gridCol w="996696">
                  <a:extLst>
                    <a:ext uri="{9D8B030D-6E8A-4147-A177-3AD203B41FA5}">
                      <a16:colId xmlns:a16="http://schemas.microsoft.com/office/drawing/2014/main" val="1699171683"/>
                    </a:ext>
                  </a:extLst>
                </a:gridCol>
                <a:gridCol w="1069848">
                  <a:extLst>
                    <a:ext uri="{9D8B030D-6E8A-4147-A177-3AD203B41FA5}">
                      <a16:colId xmlns:a16="http://schemas.microsoft.com/office/drawing/2014/main" val="2250178488"/>
                    </a:ext>
                  </a:extLst>
                </a:gridCol>
                <a:gridCol w="1321163">
                  <a:extLst>
                    <a:ext uri="{9D8B030D-6E8A-4147-A177-3AD203B41FA5}">
                      <a16:colId xmlns:a16="http://schemas.microsoft.com/office/drawing/2014/main" val="3865421449"/>
                    </a:ext>
                  </a:extLst>
                </a:gridCol>
              </a:tblGrid>
              <a:tr h="628660">
                <a:tc>
                  <a:txBody>
                    <a:bodyPr/>
                    <a:lstStyle/>
                    <a:p>
                      <a:pPr algn="just">
                        <a:lnSpc>
                          <a:spcPct val="115000"/>
                        </a:lnSpc>
                        <a:spcAft>
                          <a:spcPts val="800"/>
                        </a:spcAft>
                      </a:pPr>
                      <a:r>
                        <a:rPr lang="en-IN" sz="1000" kern="0" dirty="0">
                          <a:effectLst/>
                          <a:latin typeface="Aptos" panose="020B0004020202020204" pitchFamily="34" charset="0"/>
                        </a:rPr>
                        <a:t>Company Name</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gn="just">
                        <a:lnSpc>
                          <a:spcPct val="115000"/>
                        </a:lnSpc>
                        <a:spcAft>
                          <a:spcPts val="800"/>
                        </a:spcAft>
                      </a:pPr>
                      <a:r>
                        <a:rPr lang="en-IN" sz="1000" kern="0">
                          <a:effectLst/>
                          <a:latin typeface="Aptos" panose="020B0004020202020204" pitchFamily="34" charset="0"/>
                        </a:rPr>
                        <a:t>Sector</a:t>
                      </a:r>
                      <a:endParaRPr lang="en-IN" sz="1000"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gn="just">
                        <a:lnSpc>
                          <a:spcPct val="115000"/>
                        </a:lnSpc>
                        <a:spcAft>
                          <a:spcPts val="800"/>
                        </a:spcAft>
                      </a:pPr>
                      <a:r>
                        <a:rPr lang="en-IN" sz="1000" kern="0">
                          <a:effectLst/>
                          <a:latin typeface="Aptos" panose="020B0004020202020204" pitchFamily="34" charset="0"/>
                        </a:rPr>
                        <a:t>Legal Structure</a:t>
                      </a:r>
                      <a:endParaRPr lang="en-IN" sz="1000"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gn="just">
                        <a:lnSpc>
                          <a:spcPct val="115000"/>
                        </a:lnSpc>
                        <a:spcAft>
                          <a:spcPts val="800"/>
                        </a:spcAft>
                      </a:pPr>
                      <a:r>
                        <a:rPr lang="en-IN" sz="1000" kern="0" dirty="0">
                          <a:effectLst/>
                          <a:latin typeface="Aptos" panose="020B0004020202020204" pitchFamily="34" charset="0"/>
                        </a:rPr>
                        <a:t>Year of Incorporation</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Authorized Capital ( in Cr )</a:t>
                      </a:r>
                    </a:p>
                  </a:txBody>
                  <a:tcPr marL="41103" marR="41103" marT="0" marB="0" anchor="ctr"/>
                </a:tc>
                <a:tc>
                  <a:txBody>
                    <a:bodyPr/>
                    <a:lstStyle/>
                    <a:p>
                      <a:pPr marL="0" marR="0" lvl="0" indent="0" algn="just" defTabSz="457200" rtl="0" eaLnBrk="1" fontAlgn="auto" latinLnBrk="0" hangingPunct="1">
                        <a:lnSpc>
                          <a:spcPct val="115000"/>
                        </a:lnSpc>
                        <a:spcBef>
                          <a:spcPts val="0"/>
                        </a:spcBef>
                        <a:spcAft>
                          <a:spcPts val="800"/>
                        </a:spcAft>
                        <a:buClrTx/>
                        <a:buSzTx/>
                        <a:buFontTx/>
                        <a:buNone/>
                        <a:tabLst/>
                        <a:defRPr/>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Revenue       </a:t>
                      </a:r>
                    </a:p>
                    <a:p>
                      <a:pPr marL="0" marR="0" lvl="0" indent="0" algn="just" defTabSz="457200" rtl="0" eaLnBrk="1" fontAlgn="auto" latinLnBrk="0" hangingPunct="1">
                        <a:lnSpc>
                          <a:spcPct val="115000"/>
                        </a:lnSpc>
                        <a:spcBef>
                          <a:spcPts val="0"/>
                        </a:spcBef>
                        <a:spcAft>
                          <a:spcPts val="800"/>
                        </a:spcAft>
                        <a:buClrTx/>
                        <a:buSzTx/>
                        <a:buFontTx/>
                        <a:buNone/>
                        <a:tabLst/>
                        <a:defRPr/>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FY 23-24  (in Cr)</a:t>
                      </a:r>
                    </a:p>
                  </a:txBody>
                  <a:tcPr marL="41103" marR="41103" marT="0" marB="0" anchor="ctr"/>
                </a:tc>
                <a:tc>
                  <a:txBody>
                    <a:bodyPr/>
                    <a:lstStyle/>
                    <a:p>
                      <a:pPr marL="0" marR="0" lvl="0" indent="0" algn="just" defTabSz="457200" rtl="0" eaLnBrk="1" fontAlgn="auto" latinLnBrk="0" hangingPunct="1">
                        <a:lnSpc>
                          <a:spcPct val="115000"/>
                        </a:lnSpc>
                        <a:spcBef>
                          <a:spcPts val="0"/>
                        </a:spcBef>
                        <a:spcAft>
                          <a:spcPts val="800"/>
                        </a:spcAft>
                        <a:buClrTx/>
                        <a:buSzTx/>
                        <a:buFontTx/>
                        <a:buNone/>
                        <a:tabLst/>
                        <a:defRPr/>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Revenue       </a:t>
                      </a:r>
                    </a:p>
                    <a:p>
                      <a:pPr marL="0" marR="0" lvl="0" indent="0" algn="just" defTabSz="457200" rtl="0" eaLnBrk="1" fontAlgn="auto" latinLnBrk="0" hangingPunct="1">
                        <a:lnSpc>
                          <a:spcPct val="115000"/>
                        </a:lnSpc>
                        <a:spcBef>
                          <a:spcPts val="0"/>
                        </a:spcBef>
                        <a:spcAft>
                          <a:spcPts val="800"/>
                        </a:spcAft>
                        <a:buClrTx/>
                        <a:buSzTx/>
                        <a:buFontTx/>
                        <a:buNone/>
                        <a:tabLst/>
                        <a:defRPr/>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FY 24-25  (in Cr)</a:t>
                      </a:r>
                    </a:p>
                  </a:txBody>
                  <a:tcPr marL="41103" marR="41103" marT="0" marB="0" anchor="ctr"/>
                </a:tc>
                <a:tc>
                  <a:txBody>
                    <a:bodyPr/>
                    <a:lstStyle/>
                    <a:p>
                      <a:pPr marL="0" marR="0" lvl="0" indent="0" algn="just" defTabSz="457200" rtl="0" eaLnBrk="1" fontAlgn="auto" latinLnBrk="0" hangingPunct="1">
                        <a:lnSpc>
                          <a:spcPct val="115000"/>
                        </a:lnSpc>
                        <a:spcBef>
                          <a:spcPts val="0"/>
                        </a:spcBef>
                        <a:spcAft>
                          <a:spcPts val="800"/>
                        </a:spcAft>
                        <a:buClrTx/>
                        <a:buSzTx/>
                        <a:buFontTx/>
                        <a:buNone/>
                        <a:tabLst/>
                        <a:defRPr/>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Revenue       </a:t>
                      </a:r>
                    </a:p>
                    <a:p>
                      <a:pPr marL="0" marR="0" lvl="0" indent="0" algn="just" defTabSz="457200" rtl="0" eaLnBrk="1" fontAlgn="auto" latinLnBrk="0" hangingPunct="1">
                        <a:lnSpc>
                          <a:spcPct val="115000"/>
                        </a:lnSpc>
                        <a:spcBef>
                          <a:spcPts val="0"/>
                        </a:spcBef>
                        <a:spcAft>
                          <a:spcPts val="800"/>
                        </a:spcAft>
                        <a:buClrTx/>
                        <a:buSzTx/>
                        <a:buFontTx/>
                        <a:buNone/>
                        <a:tabLst/>
                        <a:defRPr/>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FY 25-26*  (in Cr)</a:t>
                      </a:r>
                    </a:p>
                  </a:txBody>
                  <a:tcPr marL="41103" marR="41103" marT="0" marB="0" anchor="ctr"/>
                </a:tc>
                <a:extLst>
                  <a:ext uri="{0D108BD9-81ED-4DB2-BD59-A6C34878D82A}">
                    <a16:rowId xmlns:a16="http://schemas.microsoft.com/office/drawing/2014/main" val="3794774829"/>
                  </a:ext>
                </a:extLst>
              </a:tr>
              <a:tr h="352931">
                <a:tc>
                  <a:txBody>
                    <a:bodyPr/>
                    <a:lstStyle/>
                    <a:p>
                      <a:pPr>
                        <a:lnSpc>
                          <a:spcPct val="115000"/>
                        </a:lnSpc>
                        <a:spcAft>
                          <a:spcPts val="800"/>
                        </a:spcAft>
                      </a:pPr>
                      <a:r>
                        <a:rPr lang="en-IN" sz="1000" kern="0" dirty="0">
                          <a:effectLst/>
                          <a:latin typeface="Aptos" panose="020B0004020202020204" pitchFamily="34" charset="0"/>
                        </a:rPr>
                        <a:t>Shanky Smart Tech Pvt Ltd</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Solar EPC &amp; Electronics</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a:effectLst/>
                          <a:latin typeface="Aptos" panose="020B0004020202020204" pitchFamily="34" charset="0"/>
                        </a:rPr>
                        <a:t>Private Limited</a:t>
                      </a:r>
                      <a:endParaRPr lang="en-IN" sz="1000"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a:effectLst/>
                          <a:latin typeface="Aptos" panose="020B0004020202020204" pitchFamily="34" charset="0"/>
                        </a:rPr>
                        <a:t>2025</a:t>
                      </a:r>
                      <a:endParaRPr lang="en-IN" sz="1000"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0.05</a:t>
                      </a:r>
                    </a:p>
                  </a:txBody>
                  <a:tcPr marL="41103" marR="41103" marT="0" marB="0" anchor="ctr"/>
                </a:tc>
                <a:tc>
                  <a:txBody>
                    <a:bodyPr/>
                    <a:lstStyle/>
                    <a:p>
                      <a:pPr>
                        <a:lnSpc>
                          <a:spcPct val="115000"/>
                        </a:lnSpc>
                        <a:spcAft>
                          <a:spcPts val="800"/>
                        </a:spcAft>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NA</a:t>
                      </a:r>
                    </a:p>
                  </a:txBody>
                  <a:tcPr marL="41103" marR="41103" marT="0" marB="0" anchor="ctr"/>
                </a:tc>
                <a:tc>
                  <a:txBody>
                    <a:bodyPr/>
                    <a:lstStyle/>
                    <a:p>
                      <a:pPr>
                        <a:lnSpc>
                          <a:spcPct val="115000"/>
                        </a:lnSpc>
                        <a:spcAft>
                          <a:spcPts val="800"/>
                        </a:spcAft>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NA</a:t>
                      </a:r>
                    </a:p>
                  </a:txBody>
                  <a:tcPr marL="41103" marR="41103" marT="0" marB="0" anchor="ctr"/>
                </a:tc>
                <a:tc>
                  <a:txBody>
                    <a:bodyPr/>
                    <a:lstStyle/>
                    <a:p>
                      <a:pPr>
                        <a:lnSpc>
                          <a:spcPct val="115000"/>
                        </a:lnSpc>
                        <a:spcAft>
                          <a:spcPts val="800"/>
                        </a:spcAft>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158.16</a:t>
                      </a:r>
                    </a:p>
                  </a:txBody>
                  <a:tcPr marL="41103" marR="41103" marT="0" marB="0" anchor="ctr"/>
                </a:tc>
                <a:extLst>
                  <a:ext uri="{0D108BD9-81ED-4DB2-BD59-A6C34878D82A}">
                    <a16:rowId xmlns:a16="http://schemas.microsoft.com/office/drawing/2014/main" val="496821067"/>
                  </a:ext>
                </a:extLst>
              </a:tr>
              <a:tr h="352931">
                <a:tc>
                  <a:txBody>
                    <a:bodyPr/>
                    <a:lstStyle/>
                    <a:p>
                      <a:pPr>
                        <a:lnSpc>
                          <a:spcPct val="115000"/>
                        </a:lnSpc>
                        <a:spcAft>
                          <a:spcPts val="800"/>
                        </a:spcAft>
                      </a:pPr>
                      <a:r>
                        <a:rPr lang="en-IN" sz="1000" kern="0" dirty="0">
                          <a:effectLst/>
                          <a:latin typeface="Aptos" panose="020B0004020202020204" pitchFamily="34" charset="0"/>
                        </a:rPr>
                        <a:t>VMS Hub Pvt Ltd  </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0" dirty="0">
                          <a:effectLst/>
                          <a:latin typeface="Aptos" panose="020B0004020202020204" pitchFamily="34" charset="0"/>
                          <a:ea typeface="Aptos" panose="020B0004020202020204" pitchFamily="34" charset="0"/>
                          <a:cs typeface="Times New Roman" panose="02020603050405020304" pitchFamily="18" charset="0"/>
                        </a:rPr>
                        <a:t>A</a:t>
                      </a:r>
                      <a:r>
                        <a:rPr lang="en-IN" sz="1000" kern="0" dirty="0">
                          <a:effectLst/>
                          <a:latin typeface="Aptos" panose="020B0004020202020204" pitchFamily="34" charset="0"/>
                          <a:ea typeface="Aptos" panose="020B0004020202020204" pitchFamily="34" charset="0"/>
                          <a:cs typeface="Times New Roman" panose="02020603050405020304" pitchFamily="18" charset="0"/>
                        </a:rPr>
                        <a:t>agriproduct</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Private Limited</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2025</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16.5</a:t>
                      </a: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 12.57</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118.64</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367.77</a:t>
                      </a:r>
                    </a:p>
                  </a:txBody>
                  <a:tcPr marL="41103" marR="41103" marT="0" marB="0" anchor="ctr"/>
                </a:tc>
                <a:extLst>
                  <a:ext uri="{0D108BD9-81ED-4DB2-BD59-A6C34878D82A}">
                    <a16:rowId xmlns:a16="http://schemas.microsoft.com/office/drawing/2014/main" val="39015500"/>
                  </a:ext>
                </a:extLst>
              </a:tr>
              <a:tr h="352931">
                <a:tc>
                  <a:txBody>
                    <a:bodyPr/>
                    <a:lstStyle/>
                    <a:p>
                      <a:pPr>
                        <a:lnSpc>
                          <a:spcPct val="115000"/>
                        </a:lnSpc>
                        <a:spcAft>
                          <a:spcPts val="800"/>
                        </a:spcAft>
                      </a:pPr>
                      <a:r>
                        <a:rPr lang="en-IN" sz="1000" kern="0" dirty="0">
                          <a:effectLst/>
                          <a:latin typeface="Aptos" panose="020B0004020202020204" pitchFamily="34" charset="0"/>
                        </a:rPr>
                        <a:t>Shanky Electronics Hub LLP</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Electronics Trading</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a:effectLst/>
                          <a:latin typeface="Aptos" panose="020B0004020202020204" pitchFamily="34" charset="0"/>
                        </a:rPr>
                        <a:t>LLP</a:t>
                      </a:r>
                      <a:endParaRPr lang="en-IN" sz="1000"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2020</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0.010</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 .014</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1.25</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3.5</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extLst>
                  <a:ext uri="{0D108BD9-81ED-4DB2-BD59-A6C34878D82A}">
                    <a16:rowId xmlns:a16="http://schemas.microsoft.com/office/drawing/2014/main" val="3283916410"/>
                  </a:ext>
                </a:extLst>
              </a:tr>
              <a:tr h="351448">
                <a:tc>
                  <a:txBody>
                    <a:bodyPr/>
                    <a:lstStyle/>
                    <a:p>
                      <a:pPr>
                        <a:lnSpc>
                          <a:spcPct val="115000"/>
                        </a:lnSpc>
                        <a:spcAft>
                          <a:spcPts val="800"/>
                        </a:spcAft>
                      </a:pPr>
                      <a:r>
                        <a:rPr lang="en-IN" sz="1000" kern="0" dirty="0">
                          <a:effectLst/>
                          <a:latin typeface="Aptos" panose="020B0004020202020204" pitchFamily="34" charset="0"/>
                        </a:rPr>
                        <a:t>Shanky Corporate Training Pvt Ltd</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Corporate Training</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Private Limited</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2019</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 0.01</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 .010</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1.57</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5.5</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extLst>
                  <a:ext uri="{0D108BD9-81ED-4DB2-BD59-A6C34878D82A}">
                    <a16:rowId xmlns:a16="http://schemas.microsoft.com/office/drawing/2014/main" val="3020415719"/>
                  </a:ext>
                </a:extLst>
              </a:tr>
              <a:tr h="352931">
                <a:tc>
                  <a:txBody>
                    <a:bodyPr/>
                    <a:lstStyle/>
                    <a:p>
                      <a:pPr>
                        <a:lnSpc>
                          <a:spcPct val="115000"/>
                        </a:lnSpc>
                        <a:spcAft>
                          <a:spcPts val="800"/>
                        </a:spcAft>
                      </a:pPr>
                      <a:r>
                        <a:rPr lang="en-IN" sz="1000" kern="0" dirty="0">
                          <a:effectLst/>
                          <a:latin typeface="Aptos" panose="020B0004020202020204" pitchFamily="34" charset="0"/>
                        </a:rPr>
                        <a:t>Shanky Financial Services</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a:effectLst/>
                          <a:latin typeface="Aptos" panose="020B0004020202020204" pitchFamily="34" charset="0"/>
                        </a:rPr>
                        <a:t>Financial Services</a:t>
                      </a:r>
                      <a:endParaRPr lang="en-IN" sz="1000"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Proprietorship Firm</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2018</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0.087</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 1.71 </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2.88</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5.00</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extLst>
                  <a:ext uri="{0D108BD9-81ED-4DB2-BD59-A6C34878D82A}">
                    <a16:rowId xmlns:a16="http://schemas.microsoft.com/office/drawing/2014/main" val="3561927958"/>
                  </a:ext>
                </a:extLst>
              </a:tr>
              <a:tr h="352931">
                <a:tc>
                  <a:txBody>
                    <a:bodyPr/>
                    <a:lstStyle/>
                    <a:p>
                      <a:pPr>
                        <a:lnSpc>
                          <a:spcPct val="115000"/>
                        </a:lnSpc>
                        <a:spcAft>
                          <a:spcPts val="800"/>
                        </a:spcAft>
                      </a:pPr>
                      <a:r>
                        <a:rPr lang="en-IN" sz="1000" kern="0" dirty="0">
                          <a:effectLst/>
                          <a:latin typeface="Aptos" panose="020B0004020202020204" pitchFamily="34" charset="0"/>
                        </a:rPr>
                        <a:t>Shanky Financial Services Pvt Ltd</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a:effectLst/>
                          <a:latin typeface="Aptos" panose="020B0004020202020204" pitchFamily="34" charset="0"/>
                        </a:rPr>
                        <a:t>Financial Services</a:t>
                      </a:r>
                      <a:endParaRPr lang="en-IN" sz="1000"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Private Limited</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2018</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2.00</a:t>
                      </a: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 0.083</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1.45</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15.00</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extLst>
                  <a:ext uri="{0D108BD9-81ED-4DB2-BD59-A6C34878D82A}">
                    <a16:rowId xmlns:a16="http://schemas.microsoft.com/office/drawing/2014/main" val="2241140394"/>
                  </a:ext>
                </a:extLst>
              </a:tr>
              <a:tr h="352931">
                <a:tc>
                  <a:txBody>
                    <a:bodyPr/>
                    <a:lstStyle/>
                    <a:p>
                      <a:pPr>
                        <a:lnSpc>
                          <a:spcPct val="115000"/>
                        </a:lnSpc>
                        <a:spcAft>
                          <a:spcPts val="800"/>
                        </a:spcAft>
                      </a:pPr>
                      <a:r>
                        <a:rPr lang="en-IN" sz="1000" kern="0" dirty="0">
                          <a:effectLst/>
                          <a:latin typeface="Aptos" panose="020B0004020202020204" pitchFamily="34" charset="0"/>
                        </a:rPr>
                        <a:t>Shanky </a:t>
                      </a:r>
                      <a:r>
                        <a:rPr lang="en-IN" sz="1000" kern="0" dirty="0" err="1">
                          <a:effectLst/>
                          <a:latin typeface="Aptos" panose="020B0004020202020204" pitchFamily="34" charset="0"/>
                        </a:rPr>
                        <a:t>Buildtech</a:t>
                      </a:r>
                      <a:r>
                        <a:rPr lang="en-IN" sz="1000" kern="0" dirty="0">
                          <a:effectLst/>
                          <a:latin typeface="Aptos" panose="020B0004020202020204" pitchFamily="34" charset="0"/>
                        </a:rPr>
                        <a:t> Pvt Ltd</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a:effectLst/>
                          <a:latin typeface="Aptos" panose="020B0004020202020204" pitchFamily="34" charset="0"/>
                        </a:rPr>
                        <a:t>Infrastructure &amp; Construction</a:t>
                      </a:r>
                      <a:endParaRPr lang="en-IN" sz="1000"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a:effectLst/>
                          <a:latin typeface="Aptos" panose="020B0004020202020204" pitchFamily="34" charset="0"/>
                        </a:rPr>
                        <a:t>Private Limited</a:t>
                      </a:r>
                      <a:endParaRPr lang="en-IN" sz="1000"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2014</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 0.010</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 0.068</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 2.11</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25.00</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extLst>
                  <a:ext uri="{0D108BD9-81ED-4DB2-BD59-A6C34878D82A}">
                    <a16:rowId xmlns:a16="http://schemas.microsoft.com/office/drawing/2014/main" val="2825435018"/>
                  </a:ext>
                </a:extLst>
              </a:tr>
              <a:tr h="352931">
                <a:tc>
                  <a:txBody>
                    <a:bodyPr/>
                    <a:lstStyle/>
                    <a:p>
                      <a:pPr>
                        <a:lnSpc>
                          <a:spcPct val="115000"/>
                        </a:lnSpc>
                        <a:spcAft>
                          <a:spcPts val="800"/>
                        </a:spcAft>
                      </a:pPr>
                      <a:r>
                        <a:rPr lang="en-IN" sz="1000" kern="0" dirty="0">
                          <a:effectLst/>
                          <a:latin typeface="Aptos" panose="020B0004020202020204" pitchFamily="34" charset="0"/>
                        </a:rPr>
                        <a:t>Shanky Metals Pvt Ltd</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Metal Services &amp; Trading</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Private Limited</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0" dirty="0">
                          <a:effectLst/>
                          <a:latin typeface="Aptos" panose="020B0004020202020204" pitchFamily="34" charset="0"/>
                        </a:rPr>
                        <a:t>2011</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0.75</a:t>
                      </a:r>
                    </a:p>
                  </a:txBody>
                  <a:tcPr marL="41103" marR="41103" marT="0" marB="0" anchor="ctr"/>
                </a:tc>
                <a:tc>
                  <a:txBody>
                    <a:bodyPr/>
                    <a:lstStyle/>
                    <a:p>
                      <a:pPr>
                        <a:lnSpc>
                          <a:spcPct val="115000"/>
                        </a:lnSpc>
                        <a:spcAft>
                          <a:spcPts val="800"/>
                        </a:spcAft>
                      </a:pPr>
                      <a:r>
                        <a:rPr lang="en-IN" sz="1000" kern="100" dirty="0">
                          <a:effectLst/>
                          <a:latin typeface="Aptos" panose="020B0004020202020204" pitchFamily="34" charset="0"/>
                          <a:ea typeface="Aptos" panose="020B0004020202020204" pitchFamily="34" charset="0"/>
                          <a:cs typeface="Times New Roman" panose="02020603050405020304" pitchFamily="18" charset="0"/>
                        </a:rPr>
                        <a:t>7.16</a:t>
                      </a: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 3.61</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55.00</a:t>
                      </a:r>
                      <a:endParaRPr lang="en-IN"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extLst>
                  <a:ext uri="{0D108BD9-81ED-4DB2-BD59-A6C34878D82A}">
                    <a16:rowId xmlns:a16="http://schemas.microsoft.com/office/drawing/2014/main" val="3503146026"/>
                  </a:ext>
                </a:extLst>
              </a:tr>
              <a:tr h="352931">
                <a:tc>
                  <a:txBody>
                    <a:bodyPr/>
                    <a:lstStyle/>
                    <a:p>
                      <a:pPr>
                        <a:lnSpc>
                          <a:spcPct val="115000"/>
                        </a:lnSpc>
                        <a:spcAft>
                          <a:spcPts val="800"/>
                        </a:spcAft>
                      </a:pPr>
                      <a:r>
                        <a:rPr lang="en-IN" sz="1050" b="1" i="1" kern="100" dirty="0">
                          <a:effectLst/>
                          <a:latin typeface="Aptos" panose="020B0004020202020204" pitchFamily="34" charset="0"/>
                          <a:ea typeface="Aptos" panose="020B0004020202020204" pitchFamily="34" charset="0"/>
                          <a:cs typeface="Times New Roman" panose="02020603050405020304" pitchFamily="18" charset="0"/>
                        </a:rPr>
                        <a:t>Total</a:t>
                      </a:r>
                    </a:p>
                  </a:txBody>
                  <a:tcPr marL="41103" marR="41103" marT="0" marB="0" anchor="ctr"/>
                </a:tc>
                <a:tc>
                  <a:txBody>
                    <a:bodyPr/>
                    <a:lstStyle/>
                    <a:p>
                      <a:pPr>
                        <a:lnSpc>
                          <a:spcPct val="115000"/>
                        </a:lnSpc>
                        <a:spcAft>
                          <a:spcPts val="800"/>
                        </a:spcAft>
                      </a:pPr>
                      <a:endParaRPr lang="en-IN" sz="1050" b="1" i="1"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endParaRPr lang="en-IN" sz="1050" b="1" i="1"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endParaRPr lang="en-IN" sz="1050" b="1" i="1" kern="10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endParaRPr lang="en-IN" sz="1050" b="1" i="1"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endParaRPr lang="en-IN" sz="1050" b="1" i="1"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endParaRPr lang="en-IN" sz="1050" b="1" i="1"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tc>
                  <a:txBody>
                    <a:bodyPr/>
                    <a:lstStyle/>
                    <a:p>
                      <a:pPr>
                        <a:lnSpc>
                          <a:spcPct val="115000"/>
                        </a:lnSpc>
                        <a:spcAft>
                          <a:spcPts val="800"/>
                        </a:spcAft>
                      </a:pPr>
                      <a:endParaRPr lang="en-IN" sz="1050" b="1" i="1"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03" marR="41103" marT="0" marB="0" anchor="ctr"/>
                </a:tc>
                <a:extLst>
                  <a:ext uri="{0D108BD9-81ED-4DB2-BD59-A6C34878D82A}">
                    <a16:rowId xmlns:a16="http://schemas.microsoft.com/office/drawing/2014/main" val="554042224"/>
                  </a:ext>
                </a:extLst>
              </a:tr>
            </a:tbl>
          </a:graphicData>
        </a:graphic>
      </p:graphicFrame>
      <p:pic>
        <p:nvPicPr>
          <p:cNvPr id="5" name="Picture 4">
            <a:extLst>
              <a:ext uri="{FF2B5EF4-FFF2-40B4-BE49-F238E27FC236}">
                <a16:creationId xmlns:a16="http://schemas.microsoft.com/office/drawing/2014/main" id="{C61E40BA-5801-CE87-D1DC-F53297F931E0}"/>
              </a:ext>
            </a:extLst>
          </p:cNvPr>
          <p:cNvPicPr>
            <a:picLocks noChangeAspect="1"/>
          </p:cNvPicPr>
          <p:nvPr/>
        </p:nvPicPr>
        <p:blipFill>
          <a:blip r:embed="rId2"/>
          <a:stretch>
            <a:fillRect/>
          </a:stretch>
        </p:blipFill>
        <p:spPr>
          <a:xfrm>
            <a:off x="10179334" y="673845"/>
            <a:ext cx="1431475" cy="1175004"/>
          </a:xfrm>
          <a:prstGeom prst="rect">
            <a:avLst/>
          </a:prstGeom>
        </p:spPr>
      </p:pic>
      <p:sp>
        <p:nvSpPr>
          <p:cNvPr id="6" name="TextBox 5">
            <a:extLst>
              <a:ext uri="{FF2B5EF4-FFF2-40B4-BE49-F238E27FC236}">
                <a16:creationId xmlns:a16="http://schemas.microsoft.com/office/drawing/2014/main" id="{9D63B385-BBB6-EBA2-5A10-2CD5FFAEC42D}"/>
              </a:ext>
            </a:extLst>
          </p:cNvPr>
          <p:cNvSpPr txBox="1"/>
          <p:nvPr/>
        </p:nvSpPr>
        <p:spPr>
          <a:xfrm>
            <a:off x="9665209" y="6483789"/>
            <a:ext cx="1700783" cy="307777"/>
          </a:xfrm>
          <a:prstGeom prst="rect">
            <a:avLst/>
          </a:prstGeom>
          <a:noFill/>
        </p:spPr>
        <p:txBody>
          <a:bodyPr wrap="square" rtlCol="0">
            <a:spAutoFit/>
          </a:bodyPr>
          <a:lstStyle/>
          <a:p>
            <a:r>
              <a:rPr lang="en-IN" sz="1400" dirty="0">
                <a:latin typeface="Aptos" panose="020B0004020202020204" pitchFamily="34" charset="0"/>
              </a:rPr>
              <a:t>*</a:t>
            </a:r>
            <a:r>
              <a:rPr lang="en-IN" sz="1200" dirty="0">
                <a:latin typeface="Aptos" panose="020B0004020202020204" pitchFamily="34" charset="0"/>
              </a:rPr>
              <a:t>Projected Numbers</a:t>
            </a:r>
            <a:endParaRPr lang="en-IN" sz="1400" dirty="0">
              <a:latin typeface="Aptos" panose="020B0004020202020204" pitchFamily="34" charset="0"/>
            </a:endParaRPr>
          </a:p>
        </p:txBody>
      </p:sp>
    </p:spTree>
    <p:extLst>
      <p:ext uri="{BB962C8B-B14F-4D97-AF65-F5344CB8AC3E}">
        <p14:creationId xmlns:p14="http://schemas.microsoft.com/office/powerpoint/2010/main" val="3344497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83274-A705-3F6D-61D2-FCB240AA6B8E}"/>
              </a:ext>
            </a:extLst>
          </p:cNvPr>
          <p:cNvSpPr>
            <a:spLocks noGrp="1"/>
          </p:cNvSpPr>
          <p:nvPr>
            <p:ph type="title"/>
          </p:nvPr>
        </p:nvSpPr>
        <p:spPr>
          <a:xfrm>
            <a:off x="581192" y="702156"/>
            <a:ext cx="11029616" cy="687732"/>
          </a:xfrm>
        </p:spPr>
        <p:txBody>
          <a:bodyPr/>
          <a:lstStyle/>
          <a:p>
            <a:r>
              <a:rPr lang="en-IN" dirty="0"/>
              <a:t>Group Companies</a:t>
            </a:r>
          </a:p>
        </p:txBody>
      </p:sp>
      <p:sp>
        <p:nvSpPr>
          <p:cNvPr id="3" name="Content Placeholder 2">
            <a:extLst>
              <a:ext uri="{FF2B5EF4-FFF2-40B4-BE49-F238E27FC236}">
                <a16:creationId xmlns:a16="http://schemas.microsoft.com/office/drawing/2014/main" id="{46EE767C-42EB-D6A2-589A-6990C6604C72}"/>
              </a:ext>
            </a:extLst>
          </p:cNvPr>
          <p:cNvSpPr>
            <a:spLocks noGrp="1"/>
          </p:cNvSpPr>
          <p:nvPr>
            <p:ph idx="1"/>
          </p:nvPr>
        </p:nvSpPr>
        <p:spPr>
          <a:xfrm>
            <a:off x="581192" y="1418199"/>
            <a:ext cx="11029615" cy="5375793"/>
          </a:xfrm>
        </p:spPr>
        <p:txBody>
          <a:bodyPr>
            <a:normAutofit fontScale="47500" lnSpcReduction="20000"/>
          </a:bodyPr>
          <a:lstStyle/>
          <a:p>
            <a:pPr algn="just">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1. SHANKY FINANCIAL SERVICES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Sector: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Financial Services</a:t>
            </a:r>
            <a:endParaRPr lang="en-IN" sz="1800" kern="100" dirty="0">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Shanky Financial Services is the Group’s flagship entity in the financial services sector. The company offers a comprehensive suite of financial intermediation services, including investment advisory, securities dealing, and fund distribution. Its operations are governed by robust compliance frameworks, ensuring transparency and integrity in all transactions. The company’s authorized share capital stands at ₹2 crore, reflecting its strong capital base and growth ambitions. Shanky Financial Services has built a reputation for reliability, customer-centricity, and innovation in financial solutions. The company leverages technology to deliver seamless services, catering to a diverse clientele ranging from individual investors to corporate clients. Its prudent risk management practices and adherence to regulatory standards have positioned it as a trusted partner in the financial ecosystem.</a:t>
            </a:r>
          </a:p>
          <a:p>
            <a:pPr algn="just">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2. SHANKY FINANCIAL SERVICES PVT LTD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Sector: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Financial Services</a:t>
            </a:r>
          </a:p>
          <a:p>
            <a:pPr marL="0" indent="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Operating alongside its namesake, Shanky Financial Services Pvt Ltd focuses on specialized financial intermediation activities, including investment in securities and proprietary trading. The company’s operations are aligned with the Group’s broader financial services strategy, enabling cross-selling opportunities and operational efficiencies. Its compliance with the Ministry of Corporate Affairs’ regulatory requirements underscores its commitment to governance and transparency.</a:t>
            </a:r>
          </a:p>
          <a:p>
            <a:pPr algn="just">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3. VMS HUB PVT LTD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Sector: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Food Industry (Wholesale and Distribution)</a:t>
            </a:r>
          </a:p>
          <a:p>
            <a:pPr marL="0" indent="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VMS Hub Pvt Ltd is the Group’s newest venture, established to capitalize on the growing demand for food and agricultural products in India. The company is engaged in the wholesale distribution of agricultural raw materials and food products, leveraging advanced supply chain management and quality assurance systems. With an authorized share capital of ₹16.5 crore, VMS Hub is well-positioned to scale its operations and expand its market reach.</a:t>
            </a:r>
          </a:p>
          <a:p>
            <a:pPr marL="0" indent="0"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VMS Hub’s strategic focus includes sourcing high-quality products, building robust distribution networks, and fostering partnerships with farmers and suppliers. The company’s operations are designed to ensure food safety, traceability, and customer satisfaction, aligning with the Group’s commitment to excellence and sustainability.</a:t>
            </a:r>
          </a:p>
          <a:p>
            <a:pPr algn="just">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4.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SHANKY SMART TECH PVT LTD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Sector: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Solar EPC and Electronics (Trading &amp; Services)</a:t>
            </a:r>
            <a:endParaRPr lang="en-IN" sz="1800" kern="100" dirty="0">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Shanky Smart Tech Pvt Ltd operates at the intersection of renewable energy and electronics, offering end-to-end solutions in solar engineering, procurement, and construction (EPC), as well as trading and servicing of electronic products. The company’s offerings include solar panel installation, energy management systems, and smart technology integration for industrial and commercial clients. With an authorized share capital of ₹5 lakh, the company is poised for rapid growth in the burgeoning solar and electronics markets. Shanky Smart Tech leverages cutting-edge technologies such as IoT, AI, and digital twins to enhance project efficiency, sustainability, and cost-effectiveness. The company’s focus on green building certifications, renewable energy integration, and smart construction practices positions it as a leader in sustainable EPC solutions.</a:t>
            </a:r>
          </a:p>
          <a:p>
            <a:endParaRPr lang="en-IN" dirty="0"/>
          </a:p>
        </p:txBody>
      </p:sp>
      <p:pic>
        <p:nvPicPr>
          <p:cNvPr id="4" name="Picture 3">
            <a:extLst>
              <a:ext uri="{FF2B5EF4-FFF2-40B4-BE49-F238E27FC236}">
                <a16:creationId xmlns:a16="http://schemas.microsoft.com/office/drawing/2014/main" id="{AB5A18C0-CD0A-9901-B155-E735D4A366E6}"/>
              </a:ext>
            </a:extLst>
          </p:cNvPr>
          <p:cNvPicPr>
            <a:picLocks noChangeAspect="1"/>
          </p:cNvPicPr>
          <p:nvPr/>
        </p:nvPicPr>
        <p:blipFill>
          <a:blip r:embed="rId2"/>
          <a:stretch>
            <a:fillRect/>
          </a:stretch>
        </p:blipFill>
        <p:spPr>
          <a:xfrm>
            <a:off x="10179334" y="673845"/>
            <a:ext cx="1431475" cy="1175004"/>
          </a:xfrm>
          <a:prstGeom prst="rect">
            <a:avLst/>
          </a:prstGeom>
        </p:spPr>
      </p:pic>
    </p:spTree>
    <p:extLst>
      <p:ext uri="{BB962C8B-B14F-4D97-AF65-F5344CB8AC3E}">
        <p14:creationId xmlns:p14="http://schemas.microsoft.com/office/powerpoint/2010/main" val="763281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49579B-E2BE-5813-CBCE-5E10A1F3A1B6}"/>
              </a:ext>
            </a:extLst>
          </p:cNvPr>
          <p:cNvSpPr>
            <a:spLocks noGrp="1"/>
          </p:cNvSpPr>
          <p:nvPr>
            <p:ph idx="1"/>
          </p:nvPr>
        </p:nvSpPr>
        <p:spPr>
          <a:xfrm>
            <a:off x="581192" y="1106424"/>
            <a:ext cx="11029615" cy="5751576"/>
          </a:xfrm>
        </p:spPr>
        <p:txBody>
          <a:bodyPr>
            <a:normAutofit fontScale="47500" lnSpcReduction="20000"/>
          </a:bodyPr>
          <a:lstStyle/>
          <a:p>
            <a:pPr algn="just">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5. SHANKY ELECTRONICS HUB LLP</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Sector: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Electronics Products (Trading)</a:t>
            </a:r>
          </a:p>
          <a:p>
            <a:pPr marL="0" indent="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Shanky Electronics Hub LLP specializes in the trading and distribution of electronic products, catering to the growing demand for consumer and industrial electronics in  India. The company’s portfolio includes a wide range of electronic components, devices, and accessories sourced from leading manufacturers. Its operations are supported by advanced inventory management systems and a customer-centric approach, ensuring timely delivery and product quality. The LLP structure provides operational flexibility and fosters collaboration with suppliers and partners. Shanky Electronics Hub’s focus on quality, reliability, and customer service has enabled it to build a loyal client base and establish a strong market presence.</a:t>
            </a:r>
          </a:p>
          <a:p>
            <a:pPr algn="just">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6. SHANKY CORPORATE TRAINING PVT LTD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Sector: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Educational and Corporate Training Services</a:t>
            </a:r>
          </a:p>
          <a:p>
            <a:pPr marL="0" indent="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Shanky Corporate Training Pvt Ltd is the Group’s dedicated arm for educational and corporate training services. The company offers a comprehensive suite of training programs, including leadership development, soft skills, technical training, and organizational development. Its clientele includes corporates, educational institutions, and government agencies seeking to enhance workforce capabilities and drive organizational excellence.</a:t>
            </a:r>
          </a:p>
          <a:p>
            <a:pPr marL="0" indent="0"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The company’s training solutions are designed to address evolving industry needs, leveraging experienced trainers, customized curricula, and digital learning platforms. Shanky Corporate Training’s commitment to quality and innovation has positioned it as a preferred partner for talent development and capacity building.</a:t>
            </a:r>
          </a:p>
          <a:p>
            <a:pPr>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7. SHANKY BUILDTECH PVT LTD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Sector: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Infrastructure and Construction</a:t>
            </a:r>
            <a:endParaRPr lang="en-IN" sz="1800" kern="100" dirty="0">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Shanky Build Tech Pvt Ltd is the Group’s infrastructure and construction arm, specializing in the development and completion of residential, commercial, and industrial projects. The company’s expertise spans building completion, repairs, and finishing works, with a focus on quality, safety, and sustainability. Its operations are supported by a team of experienced engineers, project managers, and skilled workers, ensuring timely and cost-effective project delivery.</a:t>
            </a:r>
          </a:p>
          <a:p>
            <a:pPr marL="0" indent="0"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Shanky Build Tech adopts smart construction practices, leveraging digital project management tools, modular construction techniques, and green building certifications to enhance project outcomes. The company’s commitment to sustainability and resource optimization aligns with global best practices in the EPC sector.</a:t>
            </a:r>
          </a:p>
          <a:p>
            <a:pPr algn="just">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8. SHANKY METALS PVT LTD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Sector: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Metal Services and Trading</a:t>
            </a:r>
            <a:endParaRPr lang="en-IN" sz="1800" kern="100" dirty="0">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Shanky Metals Pvt Ltd is a leading player in the metals trading and manufacturing sector. The company specializes in the procurement, processing, and trading of a wide range of metals, including aluminium, copper, brass, iron, and steel. Its operations encompass sourcing raw materials from domestic and international suppliers, processing them into finished products, and exporting to global markets, particularly Hong Kong and other Asian countries.</a:t>
            </a:r>
          </a:p>
          <a:p>
            <a:pPr marL="0" indent="0"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With an authorized share capital of ₹75 lakh and a paid-up capital of ₹70 lakh, Shanky Metals has demonstrated robust financial performance, generating a revenue of ₹7.16 crore for the financial year ending March 31, 2024. The company’s focus on quality, timely delivery, and customer satisfaction has enabled it to build long-term relationships with clients and partners.</a:t>
            </a:r>
            <a:endParaRPr lang="en-IN" dirty="0"/>
          </a:p>
        </p:txBody>
      </p:sp>
      <p:pic>
        <p:nvPicPr>
          <p:cNvPr id="4" name="Picture 3">
            <a:extLst>
              <a:ext uri="{FF2B5EF4-FFF2-40B4-BE49-F238E27FC236}">
                <a16:creationId xmlns:a16="http://schemas.microsoft.com/office/drawing/2014/main" id="{0E1EDD77-5663-4094-A0CC-C2F460581569}"/>
              </a:ext>
            </a:extLst>
          </p:cNvPr>
          <p:cNvPicPr>
            <a:picLocks noChangeAspect="1"/>
          </p:cNvPicPr>
          <p:nvPr/>
        </p:nvPicPr>
        <p:blipFill>
          <a:blip r:embed="rId2"/>
          <a:stretch>
            <a:fillRect/>
          </a:stretch>
        </p:blipFill>
        <p:spPr>
          <a:xfrm>
            <a:off x="10179334" y="673845"/>
            <a:ext cx="1431475" cy="1175004"/>
          </a:xfrm>
          <a:prstGeom prst="rect">
            <a:avLst/>
          </a:prstGeom>
        </p:spPr>
      </p:pic>
      <p:sp>
        <p:nvSpPr>
          <p:cNvPr id="5" name="Title 1">
            <a:extLst>
              <a:ext uri="{FF2B5EF4-FFF2-40B4-BE49-F238E27FC236}">
                <a16:creationId xmlns:a16="http://schemas.microsoft.com/office/drawing/2014/main" id="{F038940F-1284-E277-C76A-27ABB875820E}"/>
              </a:ext>
            </a:extLst>
          </p:cNvPr>
          <p:cNvSpPr>
            <a:spLocks noGrp="1"/>
          </p:cNvSpPr>
          <p:nvPr>
            <p:ph type="title"/>
          </p:nvPr>
        </p:nvSpPr>
        <p:spPr>
          <a:xfrm>
            <a:off x="581192" y="702156"/>
            <a:ext cx="11029616" cy="687732"/>
          </a:xfrm>
        </p:spPr>
        <p:txBody>
          <a:bodyPr/>
          <a:lstStyle/>
          <a:p>
            <a:r>
              <a:rPr lang="en-IN" dirty="0"/>
              <a:t>Group Companies</a:t>
            </a:r>
          </a:p>
        </p:txBody>
      </p:sp>
    </p:spTree>
    <p:extLst>
      <p:ext uri="{BB962C8B-B14F-4D97-AF65-F5344CB8AC3E}">
        <p14:creationId xmlns:p14="http://schemas.microsoft.com/office/powerpoint/2010/main" val="3626522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FFE17E9-D1A8-90AE-DD31-6B8AD9B5EC8E}"/>
              </a:ext>
            </a:extLst>
          </p:cNvPr>
          <p:cNvSpPr>
            <a:spLocks noGrp="1"/>
          </p:cNvSpPr>
          <p:nvPr>
            <p:ph type="title"/>
          </p:nvPr>
        </p:nvSpPr>
        <p:spPr>
          <a:xfrm>
            <a:off x="581192" y="702156"/>
            <a:ext cx="11029616" cy="687732"/>
          </a:xfrm>
        </p:spPr>
        <p:txBody>
          <a:bodyPr/>
          <a:lstStyle/>
          <a:p>
            <a:r>
              <a:rPr lang="en-IN" dirty="0"/>
              <a:t>Key Metrics</a:t>
            </a:r>
          </a:p>
        </p:txBody>
      </p:sp>
      <p:pic>
        <p:nvPicPr>
          <p:cNvPr id="5" name="Picture 4">
            <a:extLst>
              <a:ext uri="{FF2B5EF4-FFF2-40B4-BE49-F238E27FC236}">
                <a16:creationId xmlns:a16="http://schemas.microsoft.com/office/drawing/2014/main" id="{4396665B-880B-E6D3-F966-FA481E91FF52}"/>
              </a:ext>
            </a:extLst>
          </p:cNvPr>
          <p:cNvPicPr>
            <a:picLocks noChangeAspect="1"/>
          </p:cNvPicPr>
          <p:nvPr/>
        </p:nvPicPr>
        <p:blipFill>
          <a:blip r:embed="rId2"/>
          <a:stretch>
            <a:fillRect/>
          </a:stretch>
        </p:blipFill>
        <p:spPr>
          <a:xfrm>
            <a:off x="10179334" y="673845"/>
            <a:ext cx="1431475" cy="1175004"/>
          </a:xfrm>
          <a:prstGeom prst="rect">
            <a:avLst/>
          </a:prstGeom>
        </p:spPr>
      </p:pic>
      <p:sp>
        <p:nvSpPr>
          <p:cNvPr id="7" name="Content Placeholder 6">
            <a:extLst>
              <a:ext uri="{FF2B5EF4-FFF2-40B4-BE49-F238E27FC236}">
                <a16:creationId xmlns:a16="http://schemas.microsoft.com/office/drawing/2014/main" id="{1A3D9A1B-915D-492A-75DE-9631925A701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813583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50826-1D6C-B869-71E8-CE295BAF5704}"/>
              </a:ext>
            </a:extLst>
          </p:cNvPr>
          <p:cNvSpPr>
            <a:spLocks noGrp="1"/>
          </p:cNvSpPr>
          <p:nvPr>
            <p:ph type="title"/>
          </p:nvPr>
        </p:nvSpPr>
        <p:spPr>
          <a:xfrm>
            <a:off x="581192" y="702156"/>
            <a:ext cx="11029616" cy="751740"/>
          </a:xfrm>
        </p:spPr>
        <p:txBody>
          <a:bodyPr/>
          <a:lstStyle/>
          <a:p>
            <a:r>
              <a:rPr lang="en-IN" dirty="0"/>
              <a:t>Team Profile</a:t>
            </a:r>
          </a:p>
        </p:txBody>
      </p:sp>
      <p:sp>
        <p:nvSpPr>
          <p:cNvPr id="3" name="Content Placeholder 2">
            <a:extLst>
              <a:ext uri="{FF2B5EF4-FFF2-40B4-BE49-F238E27FC236}">
                <a16:creationId xmlns:a16="http://schemas.microsoft.com/office/drawing/2014/main" id="{15E29690-5DDC-406E-A188-E79360C3FA93}"/>
              </a:ext>
            </a:extLst>
          </p:cNvPr>
          <p:cNvSpPr>
            <a:spLocks noGrp="1"/>
          </p:cNvSpPr>
          <p:nvPr>
            <p:ph idx="1"/>
          </p:nvPr>
        </p:nvSpPr>
        <p:spPr>
          <a:xfrm>
            <a:off x="581192" y="1453896"/>
            <a:ext cx="11029615" cy="5212080"/>
          </a:xfrm>
        </p:spPr>
        <p:txBody>
          <a:bodyPr>
            <a:normAutofit fontScale="62500" lnSpcReduction="20000"/>
          </a:bodyPr>
          <a:lstStyle/>
          <a:p>
            <a:pPr>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Mr. Vipin Kumar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 Managing Director</a:t>
            </a:r>
          </a:p>
          <a:p>
            <a:pPr marL="0" indent="0"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A seasoned entrepreneur and business leader, Mr. Vipin Kumar has been at the helm of Shanky Group since its inception. As a CA and MBA Finance. With over a decade of experience in managing diversified businesses, he has played a pivotal role in the Group’s expansion and diversification. Mr. Kumar’s strategic vision, operational acumen, and commitment to ethical business practices have earned him recognition as a trusted leader in the industry. He holds directorships in multiple Group companies, including Shanky Metals Pvt Ltd, Shanky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Buildtech</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Pvt Ltd, Shanky Financial Services Pvt Ltd, and Shanky Corporate Training Pvt Ltd.</a:t>
            </a:r>
          </a:p>
          <a:p>
            <a:pPr algn="just">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Mr. Manoj Kumar Mishra</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 Director</a:t>
            </a:r>
          </a:p>
          <a:p>
            <a:pPr marL="0" indent="0"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Mr. Mishra brings over 22 years of experience in finance, accounts, and commercial operations across manufacturing and retail sectors. As a Chartered Accountant and Cost Accountant and CPA ,MBA,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M.Mom</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LLB as well he has a proven track record in financial management, statutory compliance, and strategic planning. Mr. Mishra’s expertise encompasses financial analysis, budgeting, audit, taxation, and regulatory affairs. His leadership ensures robust financial governance and risk management across the Group’s companies.</a:t>
            </a:r>
          </a:p>
          <a:p>
            <a:pPr>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Ms. Poonam Shah</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 Vice President, Admin</a:t>
            </a:r>
          </a:p>
          <a:p>
            <a:pPr marL="0" indent="0"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Ms. Shah is an accomplished administrative leader with a strong track record of designs, directs, and optimizes an organisation’s administrative backbone so business units can operate reliably, compliantly, and at scale. The role combines strategic planning, policy and budget ownership, facilities and vendor management.</a:t>
            </a:r>
          </a:p>
          <a:p>
            <a:pPr>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Ms. Priyanka Girdhar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 Vice President, Operations</a:t>
            </a:r>
          </a:p>
          <a:p>
            <a:pPr marL="0" indent="0"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Ms. Girdhar oversees operational excellence and process optimization across the Group’s diverse businesses. Her expertise in supply chain management, quality assurance, and project execution has contributed to the Group’s reputation for reliability and efficiency.</a:t>
            </a:r>
          </a:p>
          <a:p>
            <a:pPr algn="just">
              <a:lnSpc>
                <a:spcPct val="115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Mr. Rajeev Ranjan Jha</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 Finance Head</a:t>
            </a:r>
          </a:p>
          <a:p>
            <a:pPr marL="0" indent="0"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Mr. Jha is responsible for the Group’s accounting, financial reporting, and compliance functions. With extensive experience in corporate finance, audit, and regulatory compliance, he ensures transparency, accuracy, and integrity in the Group’s financial operations. The leadership team’s collective experience and commitment to excellence underpin Shanky Group’s sustained growth and industry leadership. Their strategic guidance fosters a culture of innovation, accountability, and continuous improvement, positioning the Group for long-term success.</a:t>
            </a:r>
          </a:p>
        </p:txBody>
      </p:sp>
      <p:pic>
        <p:nvPicPr>
          <p:cNvPr id="4" name="Picture 3">
            <a:extLst>
              <a:ext uri="{FF2B5EF4-FFF2-40B4-BE49-F238E27FC236}">
                <a16:creationId xmlns:a16="http://schemas.microsoft.com/office/drawing/2014/main" id="{E3533614-49B7-D3F7-92A9-A81FEEEF0133}"/>
              </a:ext>
            </a:extLst>
          </p:cNvPr>
          <p:cNvPicPr>
            <a:picLocks noChangeAspect="1"/>
          </p:cNvPicPr>
          <p:nvPr/>
        </p:nvPicPr>
        <p:blipFill>
          <a:blip r:embed="rId2"/>
          <a:stretch>
            <a:fillRect/>
          </a:stretch>
        </p:blipFill>
        <p:spPr>
          <a:xfrm>
            <a:off x="10179334" y="673845"/>
            <a:ext cx="1431475" cy="1175004"/>
          </a:xfrm>
          <a:prstGeom prst="rect">
            <a:avLst/>
          </a:prstGeom>
        </p:spPr>
      </p:pic>
    </p:spTree>
    <p:extLst>
      <p:ext uri="{BB962C8B-B14F-4D97-AF65-F5344CB8AC3E}">
        <p14:creationId xmlns:p14="http://schemas.microsoft.com/office/powerpoint/2010/main" val="3307896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5384B8-E65F-0B76-E7CE-7D7D141016E4}"/>
              </a:ext>
            </a:extLst>
          </p:cNvPr>
          <p:cNvSpPr txBox="1"/>
          <p:nvPr/>
        </p:nvSpPr>
        <p:spPr>
          <a:xfrm>
            <a:off x="4630784" y="4419659"/>
            <a:ext cx="1826577" cy="1138773"/>
          </a:xfrm>
          <a:prstGeom prst="rect">
            <a:avLst/>
          </a:prstGeom>
          <a:noFill/>
        </p:spPr>
        <p:txBody>
          <a:bodyPr wrap="square">
            <a:spAutoFit/>
          </a:bodyPr>
          <a:lstStyle/>
          <a:p>
            <a:endParaRPr lang="en-IN" dirty="0">
              <a:latin typeface="Aptos" panose="020B0004020202020204" pitchFamily="34" charset="0"/>
            </a:endParaRPr>
          </a:p>
          <a:p>
            <a:endParaRPr lang="en-IN" dirty="0">
              <a:latin typeface="Aptos" panose="020B0004020202020204" pitchFamily="34" charset="0"/>
            </a:endParaRPr>
          </a:p>
          <a:p>
            <a:r>
              <a:rPr lang="en-IN" sz="3200" b="1" dirty="0">
                <a:latin typeface="Aptos" panose="020B0004020202020204" pitchFamily="34" charset="0"/>
              </a:rPr>
              <a:t>THANKS</a:t>
            </a:r>
          </a:p>
        </p:txBody>
      </p:sp>
      <p:pic>
        <p:nvPicPr>
          <p:cNvPr id="4" name="Picture 3">
            <a:extLst>
              <a:ext uri="{FF2B5EF4-FFF2-40B4-BE49-F238E27FC236}">
                <a16:creationId xmlns:a16="http://schemas.microsoft.com/office/drawing/2014/main" id="{98877E5D-1316-7E91-1DDB-2D6D8EEF5ACF}"/>
              </a:ext>
            </a:extLst>
          </p:cNvPr>
          <p:cNvPicPr>
            <a:picLocks noChangeAspect="1"/>
          </p:cNvPicPr>
          <p:nvPr/>
        </p:nvPicPr>
        <p:blipFill>
          <a:blip r:embed="rId2"/>
          <a:stretch>
            <a:fillRect/>
          </a:stretch>
        </p:blipFill>
        <p:spPr>
          <a:xfrm>
            <a:off x="4034566" y="1926573"/>
            <a:ext cx="2814289" cy="2310066"/>
          </a:xfrm>
          <a:prstGeom prst="rect">
            <a:avLst/>
          </a:prstGeom>
        </p:spPr>
      </p:pic>
    </p:spTree>
    <p:extLst>
      <p:ext uri="{BB962C8B-B14F-4D97-AF65-F5344CB8AC3E}">
        <p14:creationId xmlns:p14="http://schemas.microsoft.com/office/powerpoint/2010/main" val="2284076784"/>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http://www.w3.org/XML/1998/namespace"/>
    <ds:schemaRef ds:uri="http://purl.org/dc/terms/"/>
    <ds:schemaRef ds:uri="http://purl.org/dc/elements/1.1/"/>
    <ds:schemaRef ds:uri="http://schemas.microsoft.com/office/2006/metadata/properties"/>
    <ds:schemaRef ds:uri="http://schemas.microsoft.com/office/2006/documentManagement/types"/>
    <ds:schemaRef ds:uri="16c05727-aa75-4e4a-9b5f-8a80a1165891"/>
    <ds:schemaRef ds:uri="http://schemas.microsoft.com/office/infopath/2007/PartnerControls"/>
    <ds:schemaRef ds:uri="http://schemas.openxmlformats.org/package/2006/metadata/core-properties"/>
    <ds:schemaRef ds:uri="71af3243-3dd4-4a8d-8c0d-dd76da1f02a5"/>
    <ds:schemaRef ds:uri="http://purl.org/dc/dcmitype/"/>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{490D8EC8-4AB0-4771-A9C4-649A07489782}tf33552983_win32</Template>
  <TotalTime>525</TotalTime>
  <Words>1889</Words>
  <Application>Microsoft Office PowerPoint</Application>
  <PresentationFormat>Widescreen</PresentationFormat>
  <Paragraphs>135</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Franklin Gothic Book</vt:lpstr>
      <vt:lpstr>Franklin Gothic Demi</vt:lpstr>
      <vt:lpstr>Wingdings 2</vt:lpstr>
      <vt:lpstr>DividendVTI</vt:lpstr>
      <vt:lpstr>Group Profile</vt:lpstr>
      <vt:lpstr>PowerPoint Presentation</vt:lpstr>
      <vt:lpstr>Group COMPANIES</vt:lpstr>
      <vt:lpstr>Group Companies</vt:lpstr>
      <vt:lpstr>Group Companies</vt:lpstr>
      <vt:lpstr>Key Metrics</vt:lpstr>
      <vt:lpstr>Team Profile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DEBT</dc:title>
  <dc:creator>Amit Kapoor</dc:creator>
  <cp:lastModifiedBy>Office</cp:lastModifiedBy>
  <cp:revision>54</cp:revision>
  <cp:lastPrinted>2025-11-24T10:03:27Z</cp:lastPrinted>
  <dcterms:created xsi:type="dcterms:W3CDTF">2025-11-15T08:01:42Z</dcterms:created>
  <dcterms:modified xsi:type="dcterms:W3CDTF">2025-11-24T10:39:17Z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